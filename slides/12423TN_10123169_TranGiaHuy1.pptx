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88" r:id="rId6"/>
    <p:sldId id="299" r:id="rId7"/>
    <p:sldId id="300" r:id="rId8"/>
    <p:sldId id="302" r:id="rId9"/>
    <p:sldId id="303" r:id="rId10"/>
    <p:sldId id="305" r:id="rId11"/>
    <p:sldId id="290" r:id="rId12"/>
    <p:sldId id="306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iduongpc70@gmail.com" initials="t" lastIdx="1" clrIdx="0">
    <p:extLst>
      <p:ext uri="{19B8F6BF-5375-455C-9EA6-DF929625EA0E}">
        <p15:presenceInfo xmlns:p15="http://schemas.microsoft.com/office/powerpoint/2012/main" userId="8851bfe66e14e7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9199" autoAdjust="0"/>
  </p:normalViewPr>
  <p:slideViewPr>
    <p:cSldViewPr snapToGrid="0">
      <p:cViewPr varScale="1">
        <p:scale>
          <a:sx n="79" d="100"/>
          <a:sy n="79" d="100"/>
        </p:scale>
        <p:origin x="7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03131-DADB-46CD-8C42-3B5DBAA4455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F090A-32C0-45AF-B934-F85FDA7F0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18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</a:t>
            </a:r>
            <a:r>
              <a:rPr lang="vi-VN"/>
              <a:t>rục </a:t>
            </a:r>
            <a:r>
              <a:rPr lang="vi-VN" b="1"/>
              <a:t>X</a:t>
            </a:r>
            <a:r>
              <a:rPr lang="vi-VN"/>
              <a:t>: </a:t>
            </a:r>
            <a:r>
              <a:rPr lang="vi-VN" b="1"/>
              <a:t>FPR</a:t>
            </a:r>
            <a:r>
              <a:rPr lang="vi-VN"/>
              <a:t> (False Positive Rate)</a:t>
            </a:r>
            <a:br>
              <a:rPr lang="vi-VN"/>
            </a:br>
            <a:r>
              <a:rPr lang="vi-VN"/>
              <a:t>→ % người </a:t>
            </a:r>
            <a:r>
              <a:rPr lang="vi-VN" b="1"/>
              <a:t>KHÔNG trả được nợ</a:t>
            </a:r>
            <a:r>
              <a:rPr lang="vi-VN"/>
              <a:t> nhưng </a:t>
            </a:r>
            <a:r>
              <a:rPr lang="vi-VN" b="1"/>
              <a:t>bị cho vay nhầm</a:t>
            </a:r>
            <a:endParaRPr lang="vi-VN"/>
          </a:p>
          <a:p>
            <a:r>
              <a:rPr lang="vi-VN"/>
              <a:t>Trục </a:t>
            </a:r>
            <a:r>
              <a:rPr lang="vi-VN" b="1"/>
              <a:t>Y</a:t>
            </a:r>
            <a:r>
              <a:rPr lang="vi-VN"/>
              <a:t>: </a:t>
            </a:r>
            <a:r>
              <a:rPr lang="vi-VN" b="1"/>
              <a:t>TPR = Recall</a:t>
            </a:r>
            <a:br>
              <a:rPr lang="vi-VN"/>
            </a:br>
            <a:r>
              <a:rPr lang="vi-VN"/>
              <a:t>→ % người </a:t>
            </a:r>
            <a:r>
              <a:rPr lang="vi-VN" b="1"/>
              <a:t>TRẢ ĐƯỢC nợ</a:t>
            </a:r>
            <a:r>
              <a:rPr lang="vi-VN"/>
              <a:t> được </a:t>
            </a:r>
            <a:r>
              <a:rPr lang="vi-VN" b="1"/>
              <a:t>duyệt đúng</a:t>
            </a:r>
            <a:endParaRPr lang="vi-VN"/>
          </a:p>
          <a:p>
            <a:r>
              <a:rPr lang="en-US"/>
              <a:t>Ví dụ : </a:t>
            </a:r>
            <a:r>
              <a:rPr lang="en-US" b="1"/>
              <a:t>Threshold = “score từ bao nhiêu trở lên thì tôi cho vay”</a:t>
            </a:r>
            <a:endParaRPr lang="en-US"/>
          </a:p>
          <a:p>
            <a:r>
              <a:rPr lang="en-US"/>
              <a:t>Ví dụ:</a:t>
            </a:r>
          </a:p>
          <a:p>
            <a:r>
              <a:rPr lang="en-US"/>
              <a:t>threshold = 0.8</a:t>
            </a:r>
            <a:br>
              <a:rPr lang="en-US"/>
            </a:br>
            <a:r>
              <a:rPr lang="en-US"/>
              <a:t>→ score ≥ 0.8 thì </a:t>
            </a:r>
            <a:r>
              <a:rPr lang="en-US" b="1"/>
              <a:t>CHO VAY</a:t>
            </a:r>
            <a:endParaRPr lang="en-US"/>
          </a:p>
          <a:p>
            <a:r>
              <a:rPr lang="vi-VN" b="1"/>
              <a:t>iểm A: threshold = 0.85</a:t>
            </a:r>
          </a:p>
          <a:p>
            <a:r>
              <a:rPr lang="vi-VN"/>
              <a:t>Cho vay ai?</a:t>
            </a:r>
          </a:p>
          <a:p>
            <a:r>
              <a:rPr lang="vi-VN"/>
              <a:t>Người 1, 2, 3</a:t>
            </a:r>
          </a:p>
          <a:p>
            <a:r>
              <a:rPr lang="vi-VN"/>
              <a:t>Kết quả:</a:t>
            </a:r>
          </a:p>
          <a:p>
            <a:r>
              <a:rPr lang="vi-VN"/>
              <a:t>Cho vay </a:t>
            </a:r>
            <a:r>
              <a:rPr lang="vi-VN" b="1"/>
              <a:t>3 người</a:t>
            </a:r>
            <a:endParaRPr lang="vi-VN"/>
          </a:p>
          <a:p>
            <a:r>
              <a:rPr lang="vi-VN"/>
              <a:t>Không cho vay nhầm ai xấu </a:t>
            </a:r>
            <a:r>
              <a:rPr lang="en-US"/>
              <a:t>❌</a:t>
            </a:r>
          </a:p>
          <a:p>
            <a:r>
              <a:rPr lang="vi-VN"/>
              <a:t>Nhưng </a:t>
            </a:r>
            <a:r>
              <a:rPr lang="vi-VN" b="1"/>
              <a:t>bỏ lỡ nhiều người tốt</a:t>
            </a:r>
            <a:endParaRPr lang="vi-VN"/>
          </a:p>
          <a:p>
            <a:r>
              <a:rPr lang="en-US"/>
              <a:t>👉 </a:t>
            </a:r>
            <a:r>
              <a:rPr lang="vi-VN" b="1"/>
              <a:t>An toàn – ít lợi nhuận</a:t>
            </a:r>
            <a:endParaRPr lang="vi-VN"/>
          </a:p>
          <a:p>
            <a:r>
              <a:rPr lang="vi-VN"/>
              <a:t>Trên ROC:</a:t>
            </a:r>
          </a:p>
          <a:p>
            <a:r>
              <a:rPr lang="vi-VN" b="1"/>
              <a:t>FPR thấp</a:t>
            </a:r>
            <a:endParaRPr lang="vi-VN"/>
          </a:p>
          <a:p>
            <a:r>
              <a:rPr lang="vi-VN" b="1"/>
              <a:t>TPR chưa cao</a:t>
            </a:r>
            <a:endParaRPr lang="vi-VN"/>
          </a:p>
          <a:p>
            <a:r>
              <a:rPr lang="vi-VN"/>
              <a:t>➡️ Đó chính là </a:t>
            </a:r>
            <a:r>
              <a:rPr lang="vi-VN" b="1"/>
              <a:t>điểm A</a:t>
            </a:r>
            <a:endParaRPr lang="vi-VN"/>
          </a:p>
          <a:p>
            <a:r>
              <a:rPr lang="vi-VN" b="1"/>
              <a:t>Điểm B: threshold = 0.70</a:t>
            </a:r>
          </a:p>
          <a:p>
            <a:r>
              <a:rPr lang="vi-VN"/>
              <a:t>Cho vay ai?</a:t>
            </a:r>
          </a:p>
          <a:p>
            <a:r>
              <a:rPr lang="vi-VN"/>
              <a:t>Người 1 → 7</a:t>
            </a:r>
          </a:p>
          <a:p>
            <a:r>
              <a:rPr lang="vi-VN"/>
              <a:t>Kết quả:</a:t>
            </a:r>
          </a:p>
          <a:p>
            <a:r>
              <a:rPr lang="vi-VN"/>
              <a:t>Cho vay </a:t>
            </a:r>
            <a:r>
              <a:rPr lang="vi-VN" b="1"/>
              <a:t>7 người</a:t>
            </a:r>
            <a:endParaRPr lang="vi-VN"/>
          </a:p>
          <a:p>
            <a:r>
              <a:rPr lang="vi-VN"/>
              <a:t>Có </a:t>
            </a:r>
            <a:r>
              <a:rPr lang="vi-VN" b="1"/>
              <a:t>1–2 người xấu lọt vào</a:t>
            </a:r>
            <a:endParaRPr lang="vi-VN"/>
          </a:p>
          <a:p>
            <a:r>
              <a:rPr lang="vi-VN"/>
              <a:t>Nhưng bắt được </a:t>
            </a:r>
            <a:r>
              <a:rPr lang="vi-VN" b="1"/>
              <a:t>gần hết người tốt</a:t>
            </a:r>
            <a:endParaRPr lang="vi-VN"/>
          </a:p>
          <a:p>
            <a:r>
              <a:rPr lang="en-US"/>
              <a:t>👉 </a:t>
            </a:r>
            <a:r>
              <a:rPr lang="vi-VN" b="1"/>
              <a:t>Cân bằng – thực tế ngân hàng thích</a:t>
            </a:r>
            <a:endParaRPr lang="vi-VN"/>
          </a:p>
          <a:p>
            <a:r>
              <a:rPr lang="vi-VN"/>
              <a:t>Trên ROC:</a:t>
            </a:r>
          </a:p>
          <a:p>
            <a:r>
              <a:rPr lang="vi-VN" b="1"/>
              <a:t>TPR tăng mạnh</a:t>
            </a:r>
            <a:endParaRPr lang="vi-VN"/>
          </a:p>
          <a:p>
            <a:r>
              <a:rPr lang="vi-VN" b="1"/>
              <a:t>FPR tăng chút ít</a:t>
            </a:r>
            <a:endParaRPr lang="vi-VN"/>
          </a:p>
          <a:p>
            <a:r>
              <a:rPr lang="vi-VN"/>
              <a:t>➡️ Đó chính là </a:t>
            </a:r>
            <a:r>
              <a:rPr lang="vi-VN" b="1"/>
              <a:t>điểm B</a:t>
            </a:r>
            <a:endParaRPr lang="vi-VN"/>
          </a:p>
          <a:p>
            <a:r>
              <a:rPr lang="en-US"/>
              <a:t> </a:t>
            </a:r>
            <a:r>
              <a:rPr lang="vi-VN"/>
              <a:t>Cho vay ai?</a:t>
            </a:r>
          </a:p>
          <a:p>
            <a:r>
              <a:rPr lang="vi-VN"/>
              <a:t>Người 1 → 9</a:t>
            </a:r>
          </a:p>
          <a:p>
            <a:r>
              <a:rPr lang="vi-VN"/>
              <a:t>Kết quả:</a:t>
            </a:r>
          </a:p>
          <a:p>
            <a:r>
              <a:rPr lang="vi-VN"/>
              <a:t>Cho vay </a:t>
            </a:r>
            <a:r>
              <a:rPr lang="vi-VN" b="1"/>
              <a:t>9 người</a:t>
            </a:r>
            <a:endParaRPr lang="vi-VN"/>
          </a:p>
          <a:p>
            <a:r>
              <a:rPr lang="vi-VN"/>
              <a:t>Nhiều người xấu lọt vào</a:t>
            </a:r>
          </a:p>
          <a:p>
            <a:r>
              <a:rPr lang="vi-VN"/>
              <a:t>Nhưng gần như không bỏ sót người tốt</a:t>
            </a:r>
          </a:p>
          <a:p>
            <a:r>
              <a:rPr lang="en-US"/>
              <a:t>👉 </a:t>
            </a:r>
            <a:r>
              <a:rPr lang="vi-VN" b="1"/>
              <a:t>Rủi ro cao – tăng trưởng nóng</a:t>
            </a:r>
            <a:endParaRPr lang="vi-VN"/>
          </a:p>
          <a:p>
            <a:r>
              <a:rPr lang="vi-VN"/>
              <a:t>Trên ROC:</a:t>
            </a:r>
          </a:p>
          <a:p>
            <a:r>
              <a:rPr lang="vi-VN" b="1"/>
              <a:t>TPR ≈ 1</a:t>
            </a:r>
            <a:endParaRPr lang="vi-VN"/>
          </a:p>
          <a:p>
            <a:r>
              <a:rPr lang="vi-VN" b="1"/>
              <a:t>FPR cao</a:t>
            </a:r>
            <a:endParaRPr lang="vi-VN"/>
          </a:p>
          <a:p>
            <a:r>
              <a:rPr lang="vi-VN"/>
              <a:t>➡️ Đó chính là </a:t>
            </a:r>
            <a:r>
              <a:rPr lang="vi-VN" b="1"/>
              <a:t>điểm C</a:t>
            </a:r>
            <a:endParaRPr lang="vi-VN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F090A-32C0-45AF-B934-F85FDA7F05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94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3585-7CED-7EE3-B7A4-2E34D5B3F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966F9-E2C9-0B28-F4A8-FB15E1993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1AE63-2BD9-2B59-BC50-6424A1A75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</a:t>
            </a:r>
            <a:r>
              <a:rPr lang="vi-VN"/>
              <a:t>rục </a:t>
            </a:r>
            <a:r>
              <a:rPr lang="vi-VN" b="1"/>
              <a:t>X</a:t>
            </a:r>
            <a:r>
              <a:rPr lang="vi-VN"/>
              <a:t>: </a:t>
            </a:r>
            <a:r>
              <a:rPr lang="vi-VN" b="1"/>
              <a:t>FPR</a:t>
            </a:r>
            <a:r>
              <a:rPr lang="vi-VN"/>
              <a:t> (False Positive Rate)</a:t>
            </a:r>
            <a:br>
              <a:rPr lang="vi-VN"/>
            </a:br>
            <a:r>
              <a:rPr lang="vi-VN"/>
              <a:t>→ % người </a:t>
            </a:r>
            <a:r>
              <a:rPr lang="vi-VN" b="1"/>
              <a:t>KHÔNG trả được nợ</a:t>
            </a:r>
            <a:r>
              <a:rPr lang="vi-VN"/>
              <a:t> nhưng </a:t>
            </a:r>
            <a:r>
              <a:rPr lang="vi-VN" b="1"/>
              <a:t>bị cho vay nhầm</a:t>
            </a:r>
            <a:endParaRPr lang="vi-VN"/>
          </a:p>
          <a:p>
            <a:r>
              <a:rPr lang="vi-VN"/>
              <a:t>Trục </a:t>
            </a:r>
            <a:r>
              <a:rPr lang="vi-VN" b="1"/>
              <a:t>Y</a:t>
            </a:r>
            <a:r>
              <a:rPr lang="vi-VN"/>
              <a:t>: </a:t>
            </a:r>
            <a:r>
              <a:rPr lang="vi-VN" b="1"/>
              <a:t>TPR = Recall</a:t>
            </a:r>
            <a:br>
              <a:rPr lang="vi-VN"/>
            </a:br>
            <a:r>
              <a:rPr lang="vi-VN"/>
              <a:t>→ % người </a:t>
            </a:r>
            <a:r>
              <a:rPr lang="vi-VN" b="1"/>
              <a:t>TRẢ ĐƯỢC nợ</a:t>
            </a:r>
            <a:r>
              <a:rPr lang="vi-VN"/>
              <a:t> được </a:t>
            </a:r>
            <a:r>
              <a:rPr lang="vi-VN" b="1"/>
              <a:t>duyệt đúng</a:t>
            </a:r>
            <a:endParaRPr lang="vi-VN"/>
          </a:p>
          <a:p>
            <a:r>
              <a:rPr lang="en-US"/>
              <a:t>Ví dụ : </a:t>
            </a:r>
            <a:r>
              <a:rPr lang="en-US" b="1"/>
              <a:t>Threshold = “score từ bao nhiêu trở lên thì tôi cho vay”</a:t>
            </a:r>
            <a:endParaRPr lang="en-US"/>
          </a:p>
          <a:p>
            <a:r>
              <a:rPr lang="en-US"/>
              <a:t>Ví dụ:</a:t>
            </a:r>
          </a:p>
          <a:p>
            <a:r>
              <a:rPr lang="en-US"/>
              <a:t>threshold = 0.8</a:t>
            </a:r>
            <a:br>
              <a:rPr lang="en-US"/>
            </a:br>
            <a:r>
              <a:rPr lang="en-US"/>
              <a:t>→ score ≥ 0.8 thì </a:t>
            </a:r>
            <a:r>
              <a:rPr lang="en-US" b="1"/>
              <a:t>CHO VAY</a:t>
            </a:r>
            <a:endParaRPr lang="en-US"/>
          </a:p>
          <a:p>
            <a:r>
              <a:rPr lang="vi-VN" b="1"/>
              <a:t>iểm A: threshold = 0.85</a:t>
            </a:r>
          </a:p>
          <a:p>
            <a:r>
              <a:rPr lang="vi-VN"/>
              <a:t>Cho vay ai?</a:t>
            </a:r>
          </a:p>
          <a:p>
            <a:r>
              <a:rPr lang="vi-VN"/>
              <a:t>Người 1, 2, 3</a:t>
            </a:r>
          </a:p>
          <a:p>
            <a:r>
              <a:rPr lang="vi-VN"/>
              <a:t>Kết quả:</a:t>
            </a:r>
          </a:p>
          <a:p>
            <a:r>
              <a:rPr lang="vi-VN"/>
              <a:t>Cho vay </a:t>
            </a:r>
            <a:r>
              <a:rPr lang="vi-VN" b="1"/>
              <a:t>3 người</a:t>
            </a:r>
            <a:endParaRPr lang="vi-VN"/>
          </a:p>
          <a:p>
            <a:r>
              <a:rPr lang="vi-VN"/>
              <a:t>Không cho vay nhầm ai xấu </a:t>
            </a:r>
            <a:r>
              <a:rPr lang="en-US"/>
              <a:t>❌</a:t>
            </a:r>
          </a:p>
          <a:p>
            <a:r>
              <a:rPr lang="vi-VN"/>
              <a:t>Nhưng </a:t>
            </a:r>
            <a:r>
              <a:rPr lang="vi-VN" b="1"/>
              <a:t>bỏ lỡ nhiều người tốt</a:t>
            </a:r>
            <a:endParaRPr lang="vi-VN"/>
          </a:p>
          <a:p>
            <a:r>
              <a:rPr lang="en-US"/>
              <a:t>👉 </a:t>
            </a:r>
            <a:r>
              <a:rPr lang="vi-VN" b="1"/>
              <a:t>An toàn – ít lợi nhuận</a:t>
            </a:r>
            <a:endParaRPr lang="vi-VN"/>
          </a:p>
          <a:p>
            <a:r>
              <a:rPr lang="vi-VN"/>
              <a:t>Trên ROC:</a:t>
            </a:r>
          </a:p>
          <a:p>
            <a:r>
              <a:rPr lang="vi-VN" b="1"/>
              <a:t>FPR thấp</a:t>
            </a:r>
            <a:endParaRPr lang="vi-VN"/>
          </a:p>
          <a:p>
            <a:r>
              <a:rPr lang="vi-VN" b="1"/>
              <a:t>TPR chưa cao</a:t>
            </a:r>
            <a:endParaRPr lang="vi-VN"/>
          </a:p>
          <a:p>
            <a:r>
              <a:rPr lang="vi-VN"/>
              <a:t>➡️ Đó chính là </a:t>
            </a:r>
            <a:r>
              <a:rPr lang="vi-VN" b="1"/>
              <a:t>điểm A</a:t>
            </a:r>
            <a:endParaRPr lang="vi-VN"/>
          </a:p>
          <a:p>
            <a:r>
              <a:rPr lang="vi-VN" b="1"/>
              <a:t>Điểm B: threshold = 0.70</a:t>
            </a:r>
          </a:p>
          <a:p>
            <a:r>
              <a:rPr lang="vi-VN"/>
              <a:t>Cho vay ai?</a:t>
            </a:r>
          </a:p>
          <a:p>
            <a:r>
              <a:rPr lang="vi-VN"/>
              <a:t>Người 1 → 7</a:t>
            </a:r>
          </a:p>
          <a:p>
            <a:r>
              <a:rPr lang="vi-VN"/>
              <a:t>Kết quả:</a:t>
            </a:r>
          </a:p>
          <a:p>
            <a:r>
              <a:rPr lang="vi-VN"/>
              <a:t>Cho vay </a:t>
            </a:r>
            <a:r>
              <a:rPr lang="vi-VN" b="1"/>
              <a:t>7 người</a:t>
            </a:r>
            <a:endParaRPr lang="vi-VN"/>
          </a:p>
          <a:p>
            <a:r>
              <a:rPr lang="vi-VN"/>
              <a:t>Có </a:t>
            </a:r>
            <a:r>
              <a:rPr lang="vi-VN" b="1"/>
              <a:t>1–2 người xấu lọt vào</a:t>
            </a:r>
            <a:endParaRPr lang="vi-VN"/>
          </a:p>
          <a:p>
            <a:r>
              <a:rPr lang="vi-VN"/>
              <a:t>Nhưng bắt được </a:t>
            </a:r>
            <a:r>
              <a:rPr lang="vi-VN" b="1"/>
              <a:t>gần hết người tốt</a:t>
            </a:r>
            <a:endParaRPr lang="vi-VN"/>
          </a:p>
          <a:p>
            <a:r>
              <a:rPr lang="en-US"/>
              <a:t>👉 </a:t>
            </a:r>
            <a:r>
              <a:rPr lang="vi-VN" b="1"/>
              <a:t>Cân bằng – thực tế ngân hàng thích</a:t>
            </a:r>
            <a:endParaRPr lang="vi-VN"/>
          </a:p>
          <a:p>
            <a:r>
              <a:rPr lang="vi-VN"/>
              <a:t>Trên ROC:</a:t>
            </a:r>
          </a:p>
          <a:p>
            <a:r>
              <a:rPr lang="vi-VN" b="1"/>
              <a:t>TPR tăng mạnh</a:t>
            </a:r>
            <a:endParaRPr lang="vi-VN"/>
          </a:p>
          <a:p>
            <a:r>
              <a:rPr lang="vi-VN" b="1"/>
              <a:t>FPR tăng chút ít</a:t>
            </a:r>
            <a:endParaRPr lang="vi-VN"/>
          </a:p>
          <a:p>
            <a:r>
              <a:rPr lang="vi-VN"/>
              <a:t>➡️ Đó chính là </a:t>
            </a:r>
            <a:r>
              <a:rPr lang="vi-VN" b="1"/>
              <a:t>điểm B</a:t>
            </a:r>
            <a:endParaRPr lang="vi-VN"/>
          </a:p>
          <a:p>
            <a:r>
              <a:rPr lang="en-US"/>
              <a:t> </a:t>
            </a:r>
            <a:r>
              <a:rPr lang="vi-VN"/>
              <a:t>Cho vay ai?</a:t>
            </a:r>
          </a:p>
          <a:p>
            <a:r>
              <a:rPr lang="vi-VN"/>
              <a:t>Người 1 → 9</a:t>
            </a:r>
          </a:p>
          <a:p>
            <a:r>
              <a:rPr lang="vi-VN"/>
              <a:t>Kết quả:</a:t>
            </a:r>
          </a:p>
          <a:p>
            <a:r>
              <a:rPr lang="vi-VN"/>
              <a:t>Cho vay </a:t>
            </a:r>
            <a:r>
              <a:rPr lang="vi-VN" b="1"/>
              <a:t>9 người</a:t>
            </a:r>
            <a:endParaRPr lang="vi-VN"/>
          </a:p>
          <a:p>
            <a:r>
              <a:rPr lang="vi-VN"/>
              <a:t>Nhiều người xấu lọt vào</a:t>
            </a:r>
          </a:p>
          <a:p>
            <a:r>
              <a:rPr lang="vi-VN"/>
              <a:t>Nhưng gần như không bỏ sót người tốt</a:t>
            </a:r>
          </a:p>
          <a:p>
            <a:r>
              <a:rPr lang="en-US"/>
              <a:t>👉 </a:t>
            </a:r>
            <a:r>
              <a:rPr lang="vi-VN" b="1"/>
              <a:t>Rủi ro cao – tăng trưởng nóng</a:t>
            </a:r>
            <a:endParaRPr lang="vi-VN"/>
          </a:p>
          <a:p>
            <a:r>
              <a:rPr lang="vi-VN"/>
              <a:t>Trên ROC:</a:t>
            </a:r>
          </a:p>
          <a:p>
            <a:r>
              <a:rPr lang="vi-VN" b="1"/>
              <a:t>TPR ≈ 1</a:t>
            </a:r>
            <a:endParaRPr lang="vi-VN"/>
          </a:p>
          <a:p>
            <a:r>
              <a:rPr lang="vi-VN" b="1"/>
              <a:t>FPR cao</a:t>
            </a:r>
            <a:endParaRPr lang="vi-VN"/>
          </a:p>
          <a:p>
            <a:r>
              <a:rPr lang="vi-VN"/>
              <a:t>➡️ Đó chính là </a:t>
            </a:r>
            <a:r>
              <a:rPr lang="vi-VN" b="1"/>
              <a:t>điểm C</a:t>
            </a:r>
            <a:endParaRPr lang="vi-VN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93AA1-8FF4-5399-0459-F40DFE0F9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F090A-32C0-45AF-B934-F85FDA7F05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46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945A-F383-4AD8-9B3B-EDBE3D3B1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172B0-1C32-469B-90A9-0FB7BE8EC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9B479-5A63-48DC-870C-4138C94F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096CC-2C1A-4A0E-B99D-3F0BDE19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278F4-251E-4B13-846B-24B2A04D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6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C842-86A0-444C-A005-F6476B44B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88B2-41AC-49DC-BA30-E77CD27B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7D966-DE68-4215-8207-259C87B4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2E88-285F-4EE4-961B-C6FC26AB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4C5F0-820E-42FD-91C1-F1201665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5E1D-EB85-4EDB-A369-8C18EE84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E2443-F75A-4CA5-B622-99A5C19B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79C69-1CFB-4357-82A2-0C1E2EF1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58590-1245-4F05-B2CA-3404F95F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8B3FC-4DA2-47CD-A403-B625981A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6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0EA9-0912-43E2-97A9-00C17080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8026A-AB69-429D-8923-2D4688CE2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20223-74EC-474C-9CE9-DD15F759D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B0E07-2227-4AE9-AC4A-D5F46FDF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A66D3-42C3-4B33-B893-779C8AEB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81666-79E2-4CBC-AA03-CEE0E23E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7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D241-717B-4188-9FCE-4DE3674D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E1DE4-B11C-442C-9CF3-5AFDFFFEB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9FE5A-2399-4002-A0DB-6517CBB41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2C9A2-6529-4642-A922-46D2F7425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E7177-4D18-44E6-868C-781167639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827FA0-D7A6-461F-A31D-D350007D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47FDC-9021-4B4D-B97F-42170CBE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1540C-228F-4E69-BE67-F841F006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764F-C29E-454C-8E54-8F160F94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F4009-F3A3-4A28-A49A-1F3F5662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D66FF-5619-480D-951E-E50C5D17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F0F86-B29A-48DE-9EFA-2F4A66D4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6FB35-3A6F-4832-ACB0-2B483AAF8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58F48-C9E2-4B7C-A94A-42BCC98C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6DECF-1367-4206-AE06-A8238CFB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8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D796-9A74-4270-95AF-74BD4E3E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6647-EBCB-4B09-A662-41E835B8B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1AB8B-3351-4C80-BFFF-1E4A9E1AD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1AC00-3C91-4FEE-A1C1-27AB1B8B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4F96A-8B7B-4D07-A986-5BD0D471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7A14C-01FC-40D9-ABEF-B9B7B555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0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31FD-9F60-4402-A646-EDC46AC0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7DE74-C0AD-4A6E-A480-55D57A652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20D6-1EF2-458E-BD0E-23C984202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4B0C2-259E-4606-A4E5-A7C9AD1F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D74BF-F01F-47C5-9E62-0C2B347C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9C906-0383-4488-8A6A-3E5D022E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9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BB510-E160-481A-8844-95F915EF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3D393-799A-4289-95BC-29E8E72A2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ACE39-D265-44FE-876B-9DC35558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A5983-18F2-42BE-BC8B-6997EFED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17F86-6C22-4291-87D8-0E5B0FC9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90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EB159-C854-491D-B892-C73C8DDD0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F2B6E-BA1D-4B9A-BABD-8F31CC8CE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53B53-79DF-4510-B03B-D378AB5D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3825-C5C3-4873-98B3-37EEBBFE3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8EEF1-5268-411C-A993-F039A9AD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6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715E30-3DB7-4B8F-952F-C20214FE8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5083E-5AAE-47B3-8AE8-F49DD616B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4736-B3BF-4BF6-B948-208156EFE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82AAD-9C0B-47AA-BF5F-9A0324F16D4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DD42E-5873-4B7A-AFF2-6F55AF919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5DD67-1A41-4A29-8CBB-981DAB6FF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A2C63-3061-4DF7-A8DE-EDB7EE40A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8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crash-course/classification/roc-and-auc" TargetMode="External"/><Relationship Id="rId2" Type="http://schemas.openxmlformats.org/officeDocument/2006/relationships/hyperlink" Target="https://www.kaggle.com/datasets/nabihazahid/loan-prediction-dataset-2025/data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Gradient_boos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2511-F8D7-42A6-A9E0-5CFF84E6F3F2}"/>
              </a:ext>
            </a:extLst>
          </p:cNvPr>
          <p:cNvSpPr txBox="1">
            <a:spLocks/>
          </p:cNvSpPr>
          <p:nvPr/>
        </p:nvSpPr>
        <p:spPr>
          <a:xfrm>
            <a:off x="3434280" y="2215316"/>
            <a:ext cx="5323440" cy="167825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en-US" sz="2700">
                <a:latin typeface="Montserrat" panose="00000500000000000000" pitchFamily="2" charset="0"/>
                <a:cs typeface="Vani" panose="020B0502040204020203" pitchFamily="18" charset="0"/>
              </a:rPr>
              <a:t>Predict Loan Paypack</a:t>
            </a:r>
            <a:endParaRPr lang="en-US" sz="2700" dirty="0">
              <a:latin typeface="Montserrat" panose="00000500000000000000" pitchFamily="2" charset="0"/>
              <a:cs typeface="Vani" panose="020B050204020402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7EC4C-0205-44A9-BA1F-E70299826CC2}"/>
              </a:ext>
            </a:extLst>
          </p:cNvPr>
          <p:cNvSpPr txBox="1">
            <a:spLocks/>
          </p:cNvSpPr>
          <p:nvPr/>
        </p:nvSpPr>
        <p:spPr>
          <a:xfrm>
            <a:off x="7396680" y="4058263"/>
            <a:ext cx="4421694" cy="3862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/>
              <a:t>: Trần Gia Huy</a:t>
            </a: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878A83-7F6D-456F-ACD5-7705F1814C42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1AFFB-73CE-9EE6-6315-3CFDBA5B960E}"/>
              </a:ext>
            </a:extLst>
          </p:cNvPr>
          <p:cNvSpPr txBox="1"/>
          <p:nvPr/>
        </p:nvSpPr>
        <p:spPr>
          <a:xfrm>
            <a:off x="4500205" y="317616"/>
            <a:ext cx="3191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Machine Learning 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12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78A83-7F6D-456F-ACD5-7705F1814C42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DB437F-FBF3-47B0-A3A8-67DFC17EC28C}"/>
              </a:ext>
            </a:extLst>
          </p:cNvPr>
          <p:cNvSpPr/>
          <p:nvPr/>
        </p:nvSpPr>
        <p:spPr>
          <a:xfrm>
            <a:off x="406826" y="1590648"/>
            <a:ext cx="641268" cy="61751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FD30E9-6C57-4FDA-9E1D-3DEEB1DD0090}"/>
              </a:ext>
            </a:extLst>
          </p:cNvPr>
          <p:cNvSpPr/>
          <p:nvPr/>
        </p:nvSpPr>
        <p:spPr>
          <a:xfrm>
            <a:off x="406826" y="2731799"/>
            <a:ext cx="641268" cy="61751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9C581C-CC3F-4809-98EE-22DFCE5EFD01}"/>
              </a:ext>
            </a:extLst>
          </p:cNvPr>
          <p:cNvSpPr txBox="1"/>
          <p:nvPr/>
        </p:nvSpPr>
        <p:spPr>
          <a:xfrm>
            <a:off x="1365663" y="1774609"/>
            <a:ext cx="7938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Predict Loan PayPack 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64FB93-88A2-2787-78F8-CFAB0568B337}"/>
              </a:ext>
            </a:extLst>
          </p:cNvPr>
          <p:cNvSpPr/>
          <p:nvPr/>
        </p:nvSpPr>
        <p:spPr>
          <a:xfrm>
            <a:off x="431470" y="4785180"/>
            <a:ext cx="641268" cy="61751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105B4DE-3898-CBAE-6963-FCD5272BD374}"/>
              </a:ext>
            </a:extLst>
          </p:cNvPr>
          <p:cNvSpPr/>
          <p:nvPr/>
        </p:nvSpPr>
        <p:spPr>
          <a:xfrm>
            <a:off x="406826" y="5778829"/>
            <a:ext cx="641268" cy="61751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E24C64-6EAC-57F3-D6F1-5F8BEDF1C513}"/>
              </a:ext>
            </a:extLst>
          </p:cNvPr>
          <p:cNvSpPr txBox="1"/>
          <p:nvPr/>
        </p:nvSpPr>
        <p:spPr>
          <a:xfrm>
            <a:off x="1365663" y="4863105"/>
            <a:ext cx="91974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Results and comparisons</a:t>
            </a:r>
          </a:p>
          <a:p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6C3485-D796-B747-5CB2-95EBA782871F}"/>
              </a:ext>
            </a:extLst>
          </p:cNvPr>
          <p:cNvSpPr txBox="1"/>
          <p:nvPr/>
        </p:nvSpPr>
        <p:spPr>
          <a:xfrm>
            <a:off x="1365663" y="5885687"/>
            <a:ext cx="9197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References 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AC3DF-484B-C9ED-4265-A0345634094F}"/>
              </a:ext>
            </a:extLst>
          </p:cNvPr>
          <p:cNvSpPr txBox="1"/>
          <p:nvPr/>
        </p:nvSpPr>
        <p:spPr>
          <a:xfrm>
            <a:off x="4693882" y="317616"/>
            <a:ext cx="2188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Introduction 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AC42C-DB38-905B-F2D1-2E79567CF04D}"/>
              </a:ext>
            </a:extLst>
          </p:cNvPr>
          <p:cNvSpPr txBox="1"/>
          <p:nvPr/>
        </p:nvSpPr>
        <p:spPr>
          <a:xfrm>
            <a:off x="11379818" y="6219247"/>
            <a:ext cx="46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1/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FF5BA0-2F45-4B34-4ACE-DAFB8BFEF302}"/>
              </a:ext>
            </a:extLst>
          </p:cNvPr>
          <p:cNvSpPr/>
          <p:nvPr/>
        </p:nvSpPr>
        <p:spPr>
          <a:xfrm>
            <a:off x="406826" y="3736416"/>
            <a:ext cx="641268" cy="61751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2C2F2-E1CA-4747-AA4B-DA65F95979B1}"/>
              </a:ext>
            </a:extLst>
          </p:cNvPr>
          <p:cNvSpPr txBox="1"/>
          <p:nvPr/>
        </p:nvSpPr>
        <p:spPr>
          <a:xfrm>
            <a:off x="1365663" y="2811523"/>
            <a:ext cx="7938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Explorary Data Analysis 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5402D-2D1F-7A5A-B0D9-956B57D50EE5}"/>
              </a:ext>
            </a:extLst>
          </p:cNvPr>
          <p:cNvSpPr txBox="1"/>
          <p:nvPr/>
        </p:nvSpPr>
        <p:spPr>
          <a:xfrm>
            <a:off x="1365663" y="3837314"/>
            <a:ext cx="7938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Model and Metrics</a:t>
            </a:r>
            <a:endParaRPr lang="en-US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420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19F0F8-304F-4C43-90DC-35ED55E2606D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5A5C9-BA34-41CC-965D-862B3137890E}"/>
              </a:ext>
            </a:extLst>
          </p:cNvPr>
          <p:cNvSpPr txBox="1"/>
          <p:nvPr/>
        </p:nvSpPr>
        <p:spPr>
          <a:xfrm>
            <a:off x="332509" y="1318161"/>
            <a:ext cx="11602192" cy="3599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b="1">
                <a:latin typeface="Montserrat" panose="00000500000000000000" pitchFamily="2" charset="0"/>
              </a:rPr>
              <a:t>Business Problem:</a:t>
            </a:r>
          </a:p>
          <a:p>
            <a:pPr fontAlgn="base">
              <a:lnSpc>
                <a:spcPct val="150000"/>
              </a:lnSpc>
            </a:pPr>
            <a:br>
              <a:rPr lang="en-US" b="0">
                <a:effectLst/>
                <a:latin typeface="Montserrat" panose="00000500000000000000" pitchFamily="2" charset="0"/>
              </a:rPr>
            </a:br>
            <a:r>
              <a:rPr lang="en-US" b="0">
                <a:effectLst/>
                <a:latin typeface="Montserrat" panose="00000500000000000000" pitchFamily="2" charset="0"/>
              </a:rPr>
              <a:t>- Banks need to decide whether a customer is likely to repay to loan</a:t>
            </a: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en-US">
                <a:latin typeface="Montserrat" panose="00000500000000000000" pitchFamily="2" charset="0"/>
              </a:rPr>
              <a:t>This problem is :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</a:rPr>
              <a:t>    + Financial loss (bad loans)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</a:rPr>
              <a:t>    + Missed opportunities (rejecting good customers)</a:t>
            </a:r>
          </a:p>
          <a:p>
            <a:pPr fontAlgn="base">
              <a:lnSpc>
                <a:spcPct val="150000"/>
              </a:lnSpc>
            </a:pPr>
            <a:endParaRPr lang="en-US">
              <a:latin typeface="Montserrat" panose="00000500000000000000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 Goal : </a:t>
            </a:r>
            <a:r>
              <a:rPr lang="en-US">
                <a:latin typeface="Montserrat" panose="00000500000000000000" pitchFamily="2" charset="0"/>
              </a:rPr>
              <a:t> Predict the probability that a borrower will pay back their loan (1)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74400-1AFC-5ECA-8DBF-52855DED54EB}"/>
              </a:ext>
            </a:extLst>
          </p:cNvPr>
          <p:cNvSpPr txBox="1"/>
          <p:nvPr/>
        </p:nvSpPr>
        <p:spPr>
          <a:xfrm>
            <a:off x="11379818" y="6219247"/>
            <a:ext cx="46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2/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AA700-E634-57C2-1EFF-5CE472A02377}"/>
              </a:ext>
            </a:extLst>
          </p:cNvPr>
          <p:cNvSpPr txBox="1"/>
          <p:nvPr/>
        </p:nvSpPr>
        <p:spPr>
          <a:xfrm>
            <a:off x="3911626" y="317616"/>
            <a:ext cx="4443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Predict Loan PayPack 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41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19F0F8-304F-4C43-90DC-35ED55E2606D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5A5C9-BA34-41CC-965D-862B3137890E}"/>
              </a:ext>
            </a:extLst>
          </p:cNvPr>
          <p:cNvSpPr txBox="1"/>
          <p:nvPr/>
        </p:nvSpPr>
        <p:spPr>
          <a:xfrm>
            <a:off x="294904" y="1257416"/>
            <a:ext cx="11602192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>
                <a:latin typeface="Montserrat" panose="00000500000000000000" pitchFamily="2" charset="0"/>
              </a:rPr>
              <a:t>Dataset : competition ‘Predicting Loan Paypack’ in Kaggle (1) </a:t>
            </a:r>
            <a:endParaRPr lang="en-US" sz="2400" b="1">
              <a:latin typeface="Montserrat" panose="00000500000000000000" pitchFamily="2" charset="0"/>
            </a:endParaRPr>
          </a:p>
          <a:p>
            <a:pPr fontAlgn="base"/>
            <a:br>
              <a:rPr lang="en-US">
                <a:latin typeface="Montserrat" panose="00000500000000000000" pitchFamily="2" charset="0"/>
              </a:rPr>
            </a:br>
            <a:r>
              <a:rPr lang="en-US">
                <a:latin typeface="Montserrat" panose="00000500000000000000" pitchFamily="2" charset="0"/>
              </a:rPr>
              <a:t>-   input : </a:t>
            </a:r>
          </a:p>
          <a:p>
            <a:pPr fontAlgn="base">
              <a:lnSpc>
                <a:spcPct val="150000"/>
              </a:lnSpc>
            </a:pPr>
            <a:r>
              <a:rPr lang="en-US" b="1"/>
              <a:t>     </a:t>
            </a:r>
            <a:r>
              <a:rPr lang="en-US">
                <a:latin typeface="Montserrat" panose="00000500000000000000" pitchFamily="2" charset="0"/>
              </a:rPr>
              <a:t>+ Borrower’s Demographics :Age, Gender, martial_status, education level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 + Finalcial information : annual income, employment status, debt_to_income_ratio(tỷ lệ tổng nợ và thu nhập), credit_score (Điểm tín dụng từ tổ chức tài chính)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 + Loan information : Loan_amount, loan_purpose, interest_rate(lãi suất hàng năm của khoản vay), grade subgrade(mức độ rủi ro được đánh giá bằng tổ chứ cho vay)</a:t>
            </a: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Output :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 + Loan paid back : 0~1 (</a:t>
            </a:r>
            <a:r>
              <a:rPr lang="en-US">
                <a:latin typeface="Montserrat" panose="00000500000000000000" pitchFamily="2" charset="0"/>
              </a:rPr>
              <a:t>probability</a:t>
            </a: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) 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-   Number of Samples : 593994</a:t>
            </a:r>
          </a:p>
          <a:p>
            <a:pPr fontAlgn="base"/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58123-7C7E-19B6-C837-B9BD84179953}"/>
              </a:ext>
            </a:extLst>
          </p:cNvPr>
          <p:cNvSpPr txBox="1"/>
          <p:nvPr/>
        </p:nvSpPr>
        <p:spPr>
          <a:xfrm>
            <a:off x="11389650" y="6219247"/>
            <a:ext cx="468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3/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3E4B2A-4853-92D6-2DA9-6FD83BC2206B}"/>
              </a:ext>
            </a:extLst>
          </p:cNvPr>
          <p:cNvSpPr txBox="1"/>
          <p:nvPr/>
        </p:nvSpPr>
        <p:spPr>
          <a:xfrm>
            <a:off x="3874021" y="317616"/>
            <a:ext cx="4443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Predict Loan PayPack 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89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755C5-F100-ABDA-E46D-1BF76160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7DA19B-89BD-5EF3-7B04-A7F21DAC0A9A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C43C7-35CA-D126-10A9-D5C446D8F8D7}"/>
              </a:ext>
            </a:extLst>
          </p:cNvPr>
          <p:cNvSpPr txBox="1"/>
          <p:nvPr/>
        </p:nvSpPr>
        <p:spPr>
          <a:xfrm>
            <a:off x="332509" y="1278832"/>
            <a:ext cx="7759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>
                <a:latin typeface="Montserrat" panose="00000500000000000000" pitchFamily="2" charset="0"/>
              </a:rPr>
              <a:t>Categorical :</a:t>
            </a: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fontAlgn="base"/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3D4D1-B8D9-ED17-352B-9C6D712D9828}"/>
              </a:ext>
            </a:extLst>
          </p:cNvPr>
          <p:cNvSpPr txBox="1"/>
          <p:nvPr/>
        </p:nvSpPr>
        <p:spPr>
          <a:xfrm>
            <a:off x="11389650" y="6219247"/>
            <a:ext cx="54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4/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30A5F-8709-9FCA-E3C0-2175A4FC5AD9}"/>
              </a:ext>
            </a:extLst>
          </p:cNvPr>
          <p:cNvSpPr txBox="1"/>
          <p:nvPr/>
        </p:nvSpPr>
        <p:spPr>
          <a:xfrm>
            <a:off x="3965081" y="317616"/>
            <a:ext cx="4337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Explorary Data Analysis 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744A02-0983-0EA8-D889-68A92893E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781" y="1273987"/>
            <a:ext cx="9375870" cy="51593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E138C9-ECCB-16E0-E0DA-79ED14ADD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445" y="4162091"/>
            <a:ext cx="2293547" cy="239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3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E4C94-EAD7-8FE1-E550-6F9BA5CDD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EA5DD0-0390-36DC-5257-A99D4E2AEE37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E8D11-A63F-BA24-B7FE-E53DC4102763}"/>
              </a:ext>
            </a:extLst>
          </p:cNvPr>
          <p:cNvSpPr txBox="1"/>
          <p:nvPr/>
        </p:nvSpPr>
        <p:spPr>
          <a:xfrm>
            <a:off x="332509" y="1278832"/>
            <a:ext cx="7759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>
                <a:latin typeface="Montserrat" panose="00000500000000000000" pitchFamily="2" charset="0"/>
              </a:rPr>
              <a:t>Numerical :</a:t>
            </a: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fontAlgn="base"/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0DE0B-7EFB-27C6-8E99-32978F92EAC8}"/>
              </a:ext>
            </a:extLst>
          </p:cNvPr>
          <p:cNvSpPr txBox="1"/>
          <p:nvPr/>
        </p:nvSpPr>
        <p:spPr>
          <a:xfrm>
            <a:off x="11389650" y="6219247"/>
            <a:ext cx="54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5/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D6DBA-2154-FF58-C504-C4C3118AD4AE}"/>
              </a:ext>
            </a:extLst>
          </p:cNvPr>
          <p:cNvSpPr txBox="1"/>
          <p:nvPr/>
        </p:nvSpPr>
        <p:spPr>
          <a:xfrm>
            <a:off x="3965081" y="317616"/>
            <a:ext cx="4337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Explorary Data Analysis 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732A5-9872-DE45-4252-C219C3F10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831" y="1278832"/>
            <a:ext cx="9254338" cy="509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79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9828-371F-A98B-66EA-A6EA9EB8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234023-E6E8-5A18-C2AF-597B077FD0CE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E9F8A-3FE1-E6B0-020A-8337EFBCBF2E}"/>
              </a:ext>
            </a:extLst>
          </p:cNvPr>
          <p:cNvSpPr txBox="1"/>
          <p:nvPr/>
        </p:nvSpPr>
        <p:spPr>
          <a:xfrm>
            <a:off x="332509" y="1278832"/>
            <a:ext cx="7759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>
                <a:latin typeface="Montserrat" panose="00000500000000000000" pitchFamily="2" charset="0"/>
              </a:rPr>
              <a:t>Numerical :</a:t>
            </a: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fontAlgn="base"/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7C338-8EB8-2D3D-18A5-DF7FBDC16A5B}"/>
              </a:ext>
            </a:extLst>
          </p:cNvPr>
          <p:cNvSpPr txBox="1"/>
          <p:nvPr/>
        </p:nvSpPr>
        <p:spPr>
          <a:xfrm>
            <a:off x="11389650" y="6219247"/>
            <a:ext cx="54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6/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2247C-90D8-B346-F01B-C8EFFE79CE49}"/>
              </a:ext>
            </a:extLst>
          </p:cNvPr>
          <p:cNvSpPr txBox="1"/>
          <p:nvPr/>
        </p:nvSpPr>
        <p:spPr>
          <a:xfrm>
            <a:off x="3965081" y="317616"/>
            <a:ext cx="4337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Explorary Data Analysis 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7117A3-FFA7-A4F5-0FBC-269BA0270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55" y="1288664"/>
            <a:ext cx="8980920" cy="494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0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22AF8-F619-7094-6D95-14AA08D9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F5D7A4-6FEA-2CA9-FECE-0E2EA137BA94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CD930-05F6-4908-ADE3-9A351CDAB4F8}"/>
              </a:ext>
            </a:extLst>
          </p:cNvPr>
          <p:cNvSpPr txBox="1"/>
          <p:nvPr/>
        </p:nvSpPr>
        <p:spPr>
          <a:xfrm>
            <a:off x="332509" y="1278832"/>
            <a:ext cx="77594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>
                <a:latin typeface="Montserrat" panose="00000500000000000000" pitchFamily="2" charset="0"/>
              </a:rPr>
              <a:t>Feature Engineering :</a:t>
            </a: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fontAlgn="base"/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F02F37-7FA9-E350-4024-17DAFD4A09E1}"/>
              </a:ext>
            </a:extLst>
          </p:cNvPr>
          <p:cNvSpPr txBox="1"/>
          <p:nvPr/>
        </p:nvSpPr>
        <p:spPr>
          <a:xfrm>
            <a:off x="11389650" y="6219247"/>
            <a:ext cx="54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7/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9D8BA-DEB2-0FBC-FD46-E0067A9613F0}"/>
              </a:ext>
            </a:extLst>
          </p:cNvPr>
          <p:cNvSpPr txBox="1"/>
          <p:nvPr/>
        </p:nvSpPr>
        <p:spPr>
          <a:xfrm>
            <a:off x="3965081" y="317616"/>
            <a:ext cx="4337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Explorary Data Analysis 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AC94A1-7611-2871-8CC3-AD647960C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73" y="2454986"/>
            <a:ext cx="5703127" cy="24061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7E4A9C-4DBD-2A12-C75E-18E35D3FD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90" y="1961677"/>
            <a:ext cx="5608010" cy="425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3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454F6-EC38-A4C1-E4FD-73995248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78BAAE-5162-1D55-BBD8-A110020887FA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EFCB9-112A-E1DB-08F7-C89555BC6A13}"/>
              </a:ext>
            </a:extLst>
          </p:cNvPr>
          <p:cNvSpPr txBox="1"/>
          <p:nvPr/>
        </p:nvSpPr>
        <p:spPr>
          <a:xfrm>
            <a:off x="294904" y="1318161"/>
            <a:ext cx="11602192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Model selection :</a:t>
            </a: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Logistic Regression : Linear classification model, predict probability of Loan repayment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  z = w1x1 + w2x2 + ….+ b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  </a:t>
            </a:r>
            <a:r>
              <a:rPr lang="en-US">
                <a:latin typeface="Montserrat" panose="00000500000000000000" pitchFamily="2" charset="0"/>
              </a:rPr>
              <a:t>A sigmoid function is applied to transform </a:t>
            </a:r>
            <a:r>
              <a:rPr lang="en-US" i="1">
                <a:latin typeface="Montserrat" panose="00000500000000000000" pitchFamily="2" charset="0"/>
              </a:rPr>
              <a:t>z</a:t>
            </a:r>
            <a:r>
              <a:rPr lang="en-US">
                <a:latin typeface="Montserrat" panose="00000500000000000000" pitchFamily="2" charset="0"/>
              </a:rPr>
              <a:t> into a probability between 0 and 1</a:t>
            </a:r>
            <a:endParaRPr lang="en-US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fontAlgn="base">
              <a:lnSpc>
                <a:spcPct val="150000"/>
              </a:lnSpc>
            </a:pPr>
            <a:endParaRPr lang="en-US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LightGBM(gradient boosting model) : </a:t>
            </a:r>
            <a:r>
              <a:rPr lang="en-US">
                <a:latin typeface="Montserrat" panose="00000500000000000000" pitchFamily="2" charset="0"/>
              </a:rPr>
              <a:t>LightGBM is a gradient boosting framework based on decision trees, designed for efficiency and high performance on large datasets.</a:t>
            </a:r>
            <a:endParaRPr lang="en-US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  + Step 1 : we have a constant value </a:t>
            </a:r>
            <a:r>
              <a:rPr lang="es-ES">
                <a:latin typeface="Montserrat" panose="00000500000000000000" pitchFamily="2" charset="0"/>
              </a:rPr>
              <a:t>F0​=argcmin​∑L(y,c)</a:t>
            </a:r>
          </a:p>
          <a:p>
            <a:pPr fontAlgn="base">
              <a:lnSpc>
                <a:spcPct val="150000"/>
              </a:lnSpc>
            </a:pPr>
            <a:r>
              <a:rPr lang="es-ES">
                <a:latin typeface="Montserrat" panose="00000500000000000000" pitchFamily="2" charset="0"/>
                <a:sym typeface="Wingdings" panose="05000000000000000000" pitchFamily="2" charset="2"/>
              </a:rPr>
              <a:t>     + Step 2 : compute the gradient  :</a:t>
            </a:r>
            <a:r>
              <a:rPr lang="en-US">
                <a:latin typeface="Montserrat" panose="00000500000000000000" pitchFamily="2" charset="0"/>
              </a:rPr>
              <a:t>gi​=∂y^​i​∂L(yi​,y^​i​)​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  + Step 3 : Train model and we have a first tree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  + Step 4 : Update model :  </a:t>
            </a:r>
            <a:r>
              <a:rPr lang="en-US">
                <a:latin typeface="Montserrat" panose="00000500000000000000" pitchFamily="2" charset="0"/>
              </a:rPr>
              <a:t>F1​(x)=F0​(x)+η⋅h1​(x)</a:t>
            </a: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fontAlgn="base"/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buFontTx/>
              <a:buChar char="-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1FDD0-DEBC-4EA2-D7CC-294B1A6D1603}"/>
              </a:ext>
            </a:extLst>
          </p:cNvPr>
          <p:cNvSpPr txBox="1"/>
          <p:nvPr/>
        </p:nvSpPr>
        <p:spPr>
          <a:xfrm>
            <a:off x="11389650" y="6219247"/>
            <a:ext cx="545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8/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129D8-F228-449C-E677-68125D795EDD}"/>
              </a:ext>
            </a:extLst>
          </p:cNvPr>
          <p:cNvSpPr txBox="1"/>
          <p:nvPr/>
        </p:nvSpPr>
        <p:spPr>
          <a:xfrm>
            <a:off x="4560555" y="317616"/>
            <a:ext cx="314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Model and Metrics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9063-6691-1450-3E0C-AB2110EA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9CC6F3-F618-C19D-A05D-7AE928F910D6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6D67A-F7BE-E5C8-B5DB-78EFDCA8914A}"/>
              </a:ext>
            </a:extLst>
          </p:cNvPr>
          <p:cNvSpPr txBox="1"/>
          <p:nvPr/>
        </p:nvSpPr>
        <p:spPr>
          <a:xfrm>
            <a:off x="332509" y="1318161"/>
            <a:ext cx="11602192" cy="9186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b="1">
                <a:latin typeface="Montserrat" panose="00000500000000000000" pitchFamily="2" charset="0"/>
                <a:sym typeface="Wingdings" panose="05000000000000000000" pitchFamily="2" charset="2"/>
              </a:rPr>
              <a:t>Metrics</a:t>
            </a: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: ROC – AUC(3) : 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</a:rPr>
              <a:t>-</a:t>
            </a:r>
            <a:r>
              <a:rPr lang="vi-VN">
                <a:latin typeface="Montserrat" panose="00000500000000000000" pitchFamily="2" charset="0"/>
              </a:rPr>
              <a:t>ROC (Receiver Operating Characteristic) là đường cong thể hiện khả năng phân biệt 2 lớp của mô hìn</a:t>
            </a:r>
            <a:r>
              <a:rPr lang="en-US">
                <a:latin typeface="Montserrat" panose="00000500000000000000" pitchFamily="2" charset="0"/>
              </a:rPr>
              <a:t>h</a:t>
            </a: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AUC : Phần diện tích dưới ROC </a:t>
            </a:r>
            <a:r>
              <a:rPr lang="en-US">
                <a:latin typeface="Montserrat" panose="00000500000000000000" pitchFamily="2" charset="0"/>
              </a:rPr>
              <a:t>The area under the ROC curve </a:t>
            </a: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Threshold : Ngưỡng để xem mô hình quyết định nó là 0 hay 1 ví dụ : threshold = 0.5 thì &lt; 0.5 là negative và &gt;=0.5 là positive (score / probability )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X – axis : 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FPR = FP/FP+TN</a:t>
            </a:r>
          </a:p>
          <a:p>
            <a:pPr fontAlgn="base">
              <a:lnSpc>
                <a:spcPct val="150000"/>
              </a:lnSpc>
            </a:pPr>
            <a:r>
              <a:rPr lang="vi-VN">
                <a:latin typeface="Montserrat" panose="00000500000000000000" pitchFamily="2" charset="0"/>
              </a:rPr>
              <a:t>Trong các mẫu thực sự </a:t>
            </a:r>
            <a:r>
              <a:rPr lang="en-US">
                <a:latin typeface="Montserrat" panose="00000500000000000000" pitchFamily="2" charset="0"/>
              </a:rPr>
              <a:t>sai</a:t>
            </a:r>
            <a:r>
              <a:rPr lang="vi-VN">
                <a:latin typeface="Montserrat" panose="00000500000000000000" pitchFamily="2" charset="0"/>
              </a:rPr>
              <a:t>, mô hình dự đoán sai bao nhiêu % thành </a:t>
            </a:r>
            <a:r>
              <a:rPr lang="en-US">
                <a:latin typeface="Montserrat" panose="00000500000000000000" pitchFamily="2" charset="0"/>
              </a:rPr>
              <a:t>đúng</a:t>
            </a:r>
            <a:r>
              <a:rPr lang="vi-VN">
                <a:latin typeface="Montserrat" panose="00000500000000000000" pitchFamily="2" charset="0"/>
              </a:rPr>
              <a:t>.</a:t>
            </a:r>
            <a:endParaRPr lang="en-US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Y – axis :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TPR = TP/TP+FN </a:t>
            </a:r>
          </a:p>
          <a:p>
            <a:pPr fontAlgn="base">
              <a:lnSpc>
                <a:spcPct val="150000"/>
              </a:lnSpc>
            </a:pPr>
            <a:r>
              <a:rPr lang="vi-VN">
                <a:latin typeface="Montserrat" panose="00000500000000000000" pitchFamily="2" charset="0"/>
              </a:rPr>
              <a:t>Trong các mẫu thực sự </a:t>
            </a:r>
            <a:r>
              <a:rPr lang="en-US">
                <a:latin typeface="Montserrat" panose="00000500000000000000" pitchFamily="2" charset="0"/>
              </a:rPr>
              <a:t>đúng</a:t>
            </a:r>
            <a:r>
              <a:rPr lang="vi-VN">
                <a:latin typeface="Montserrat" panose="00000500000000000000" pitchFamily="2" charset="0"/>
              </a:rPr>
              <a:t>, mô hình bắt đúng bao nhiêu %</a:t>
            </a:r>
            <a:endParaRPr lang="en-US">
              <a:latin typeface="Montserrat" panose="00000500000000000000" pitchFamily="2" charset="0"/>
            </a:endParaRP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 Cốt lõi của metrics này là ai ít rủi ro thì lên trên, còn rủi ro cao thì xuống dưới</a:t>
            </a:r>
          </a:p>
          <a:p>
            <a:pPr fontAlgn="base">
              <a:lnSpc>
                <a:spcPct val="150000"/>
              </a:lnSpc>
            </a:pPr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   </a:t>
            </a:r>
          </a:p>
          <a:p>
            <a:pPr fontAlgn="base">
              <a:lnSpc>
                <a:spcPct val="150000"/>
              </a:lnSpc>
            </a:pPr>
            <a:endParaRPr lang="en-US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fontAlgn="base">
              <a:lnSpc>
                <a:spcPct val="150000"/>
              </a:lnSpc>
            </a:pPr>
            <a:endParaRPr lang="en-US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fontAlgn="base">
              <a:lnSpc>
                <a:spcPct val="150000"/>
              </a:lnSpc>
            </a:pPr>
            <a:endParaRPr lang="en-US">
              <a:latin typeface="Montserrat" panose="00000500000000000000" pitchFamily="2" charset="0"/>
              <a:sym typeface="Wingdings" panose="05000000000000000000" pitchFamily="2" charset="2"/>
            </a:endParaRP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  <a:p>
            <a:pPr fontAlgn="base">
              <a:lnSpc>
                <a:spcPct val="150000"/>
              </a:lnSpc>
            </a:pPr>
            <a:endParaRPr lang="en-US">
              <a:latin typeface="Montserrat" panose="00000500000000000000" pitchFamily="2" charset="0"/>
            </a:endParaRPr>
          </a:p>
          <a:p>
            <a:pPr marL="285750" indent="-285750" fontAlgn="base">
              <a:lnSpc>
                <a:spcPct val="150000"/>
              </a:lnSpc>
              <a:buFontTx/>
              <a:buChar char="-"/>
            </a:pPr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2E873-BE2C-0AD2-BCAC-932F214B4FE7}"/>
              </a:ext>
            </a:extLst>
          </p:cNvPr>
          <p:cNvSpPr txBox="1"/>
          <p:nvPr/>
        </p:nvSpPr>
        <p:spPr>
          <a:xfrm>
            <a:off x="11389650" y="6219247"/>
            <a:ext cx="802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9/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C09EE-C468-EB9C-0438-35AF44786513}"/>
              </a:ext>
            </a:extLst>
          </p:cNvPr>
          <p:cNvSpPr txBox="1"/>
          <p:nvPr/>
        </p:nvSpPr>
        <p:spPr>
          <a:xfrm>
            <a:off x="4560555" y="317616"/>
            <a:ext cx="314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Model and Metrics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395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F219-A3F1-CC00-EB23-55464737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F19AC9-3F64-67E4-0196-B89CF0DB92F6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6F99F-E151-DC08-5684-010AA3F5821D}"/>
              </a:ext>
            </a:extLst>
          </p:cNvPr>
          <p:cNvSpPr txBox="1"/>
          <p:nvPr/>
        </p:nvSpPr>
        <p:spPr>
          <a:xfrm>
            <a:off x="11389650" y="6219247"/>
            <a:ext cx="701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10/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D88B8-6987-13D7-17E8-590789EC78AC}"/>
              </a:ext>
            </a:extLst>
          </p:cNvPr>
          <p:cNvSpPr txBox="1"/>
          <p:nvPr/>
        </p:nvSpPr>
        <p:spPr>
          <a:xfrm>
            <a:off x="4560555" y="317616"/>
            <a:ext cx="314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Model and Metrics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040" name="Picture 16" descr="Figure 5. A ROC curve of AUC=0.84 showing three points on the&#10;            convex part of the curve closest to (0,1) labeled A, B, C in order.">
            <a:extLst>
              <a:ext uri="{FF2B5EF4-FFF2-40B4-BE49-F238E27FC236}">
                <a16:creationId xmlns:a16="http://schemas.microsoft.com/office/drawing/2014/main" id="{26CC3EB9-8DBC-8E49-A2E9-2C2EB7CE2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498" y="1504306"/>
            <a:ext cx="6457360" cy="484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DF43BE-9260-FA29-5D6A-C104BAE2FA25}"/>
              </a:ext>
            </a:extLst>
          </p:cNvPr>
          <p:cNvSpPr txBox="1"/>
          <p:nvPr/>
        </p:nvSpPr>
        <p:spPr>
          <a:xfrm>
            <a:off x="5550948" y="6080747"/>
            <a:ext cx="54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567136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7525-9F89-061B-6038-5A7EFB0C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DF01F5-0256-A307-6A85-8CEBE3727BB5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127D3-A99F-FC41-0C1C-3DF66939A50B}"/>
              </a:ext>
            </a:extLst>
          </p:cNvPr>
          <p:cNvSpPr txBox="1"/>
          <p:nvPr/>
        </p:nvSpPr>
        <p:spPr>
          <a:xfrm>
            <a:off x="11389650" y="6219247"/>
            <a:ext cx="701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10/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133F44-CA3D-98D7-DDFD-3D6034846963}"/>
              </a:ext>
            </a:extLst>
          </p:cNvPr>
          <p:cNvSpPr txBox="1"/>
          <p:nvPr/>
        </p:nvSpPr>
        <p:spPr>
          <a:xfrm>
            <a:off x="5550948" y="6080747"/>
            <a:ext cx="54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>
                <a:latin typeface="Montserrat" panose="00000500000000000000" pitchFamily="2" charset="0"/>
                <a:sym typeface="Wingdings" panose="05000000000000000000" pitchFamily="2" charset="2"/>
              </a:rPr>
              <a:t>(3)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D471D5-FF12-8BBB-5E74-E3869D467A05}"/>
              </a:ext>
            </a:extLst>
          </p:cNvPr>
          <p:cNvSpPr txBox="1"/>
          <p:nvPr/>
        </p:nvSpPr>
        <p:spPr>
          <a:xfrm>
            <a:off x="4342327" y="265902"/>
            <a:ext cx="91974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Montserrat" panose="00000500000000000000" pitchFamily="2" charset="0"/>
              </a:rPr>
              <a:t>Results and comparisons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0FD5BA-8727-2A77-9C2D-E75B00863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457580"/>
              </p:ext>
            </p:extLst>
          </p:nvPr>
        </p:nvGraphicFramePr>
        <p:xfrm>
          <a:off x="692286" y="1362801"/>
          <a:ext cx="10515600" cy="1645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019096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97611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53220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ROC–AUC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Nhận xét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95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0.9098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Mô hình baseline, tuyến tính, khả năng phân biệt tốt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07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LightGBM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0.9218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latin typeface="Montserrat" panose="00000500000000000000" pitchFamily="2" charset="0"/>
                        </a:rPr>
                        <a:t>Hiệu quả hơn Logistic, học được quan hệ phi tuyến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986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264408-9F93-D5A6-E2E6-DF50816C3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302414"/>
              </p:ext>
            </p:extLst>
          </p:nvPr>
        </p:nvGraphicFramePr>
        <p:xfrm>
          <a:off x="692286" y="3722762"/>
          <a:ext cx="10533434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4244594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000041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183474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48638907"/>
                    </a:ext>
                  </a:extLst>
                </a:gridCol>
                <a:gridCol w="2120954">
                  <a:extLst>
                    <a:ext uri="{9D8B030D-6E8A-4147-A177-3AD203B41FA5}">
                      <a16:colId xmlns:a16="http://schemas.microsoft.com/office/drawing/2014/main" val="1308326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Submission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Public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Private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Nhận xét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73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submission.csv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LightGBM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0.92240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0.92146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Kết quả ổn định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46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submission1.csv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LightGBM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0.92231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0.92148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0">
                          <a:latin typeface="Montserrat" panose="00000500000000000000" pitchFamily="2" charset="0"/>
                        </a:rPr>
                        <a:t>Gần tương đương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74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submission3.csv (Best)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LightGBM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0.92269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0.92205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Montserrat" panose="00000500000000000000" pitchFamily="2" charset="0"/>
                        </a:rPr>
                        <a:t>Hiệu suất tốt nhất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767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31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19F0F8-304F-4C43-90DC-35ED55E2606D}"/>
              </a:ext>
            </a:extLst>
          </p:cNvPr>
          <p:cNvSpPr/>
          <p:nvPr/>
        </p:nvSpPr>
        <p:spPr>
          <a:xfrm>
            <a:off x="0" y="0"/>
            <a:ext cx="12192000" cy="10968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AA2BA-0C32-4D71-972A-E685C7C44ADC}"/>
              </a:ext>
            </a:extLst>
          </p:cNvPr>
          <p:cNvSpPr txBox="1"/>
          <p:nvPr/>
        </p:nvSpPr>
        <p:spPr>
          <a:xfrm>
            <a:off x="4870429" y="232978"/>
            <a:ext cx="245114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>
                <a:solidFill>
                  <a:schemeClr val="bg1"/>
                </a:solidFill>
              </a:rPr>
              <a:t>References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EEC6E4-6D93-41C2-98C3-55F8E3458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113"/>
            <a:ext cx="65" cy="260974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7935" rIns="0" bIns="-793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5D0DA-68D7-44B3-9FC2-85BBBB9D5300}"/>
              </a:ext>
            </a:extLst>
          </p:cNvPr>
          <p:cNvSpPr txBox="1"/>
          <p:nvPr/>
        </p:nvSpPr>
        <p:spPr>
          <a:xfrm>
            <a:off x="0" y="1169719"/>
            <a:ext cx="11875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>
                <a:latin typeface="Montserrat" panose="00000500000000000000" pitchFamily="2" charset="0"/>
              </a:rPr>
              <a:t>https://www.kaggle.com/competitions/playground-series-s5e11/overview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>
                <a:latin typeface="Montserrat" panose="00000500000000000000" pitchFamily="2" charset="0"/>
                <a:hlinkClick r:id="rId2"/>
              </a:rPr>
              <a:t>https://www.kaggle.com/datasets/nabihazahid/loan-prediction-dataset-2025/data</a:t>
            </a:r>
            <a:endParaRPr lang="en-US" sz="2400"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>
                <a:latin typeface="Montserrat" panose="00000500000000000000" pitchFamily="2" charset="0"/>
                <a:hlinkClick r:id="rId3"/>
              </a:rPr>
              <a:t>https://developers.google.com/machine-learning/crash-course/classification/roc-and-auc</a:t>
            </a:r>
            <a:endParaRPr lang="en-US" sz="2400"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>
                <a:latin typeface="Montserrat" panose="00000500000000000000" pitchFamily="2" charset="0"/>
                <a:hlinkClick r:id="rId4"/>
              </a:rPr>
              <a:t>https://en.wikipedia.org/wiki/Gradient_boosting</a:t>
            </a:r>
            <a:endParaRPr lang="en-US" sz="2400"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FB9C0-DF51-84AB-B259-A056792FD505}"/>
              </a:ext>
            </a:extLst>
          </p:cNvPr>
          <p:cNvSpPr txBox="1"/>
          <p:nvPr/>
        </p:nvSpPr>
        <p:spPr>
          <a:xfrm>
            <a:off x="11248104" y="6219247"/>
            <a:ext cx="686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ntserrat" panose="00000500000000000000" pitchFamily="2" charset="0"/>
              </a:rPr>
              <a:t>11/</a:t>
            </a:r>
            <a:endParaRPr lang="en-US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227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</TotalTime>
  <Words>1206</Words>
  <Application>Microsoft Office PowerPoint</Application>
  <PresentationFormat>Widescreen</PresentationFormat>
  <Paragraphs>217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thaiduongpc70@gmail.com</dc:creator>
  <cp:lastModifiedBy>Huy Tran Gia</cp:lastModifiedBy>
  <cp:revision>159</cp:revision>
  <dcterms:created xsi:type="dcterms:W3CDTF">2025-09-20T12:30:05Z</dcterms:created>
  <dcterms:modified xsi:type="dcterms:W3CDTF">2025-12-21T16:35:46Z</dcterms:modified>
</cp:coreProperties>
</file>